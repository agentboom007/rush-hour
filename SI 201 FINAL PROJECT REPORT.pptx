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Figtree"/>
      <p:regular r:id="rId19"/>
      <p:bold r:id="rId20"/>
      <p:italic r:id="rId21"/>
      <p:boldItalic r:id="rId22"/>
    </p:embeddedFont>
    <p:embeddedFont>
      <p:font typeface="Jost Light"/>
      <p:regular r:id="rId23"/>
      <p:bold r:id="rId24"/>
      <p:italic r:id="rId25"/>
      <p:boldItalic r:id="rId26"/>
    </p:embeddedFont>
    <p:embeddedFont>
      <p:font typeface="Figtree Medium"/>
      <p:regular r:id="rId27"/>
      <p:bold r:id="rId28"/>
      <p:italic r:id="rId29"/>
      <p:boldItalic r:id="rId30"/>
    </p:embeddedFont>
    <p:embeddedFont>
      <p:font typeface="Figtree Light"/>
      <p:regular r:id="rId31"/>
      <p:bold r:id="rId32"/>
      <p:italic r:id="rId33"/>
      <p:boldItalic r:id="rId34"/>
    </p:embeddedFont>
    <p:embeddedFont>
      <p:font typeface="Jos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D3A87D-A02B-4D07-A756-EF9BD13256FB}">
  <a:tblStyle styleId="{CDD3A87D-A02B-4D07-A756-EF9BD13256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bold.fntdata"/><Relationship Id="rId22" Type="http://schemas.openxmlformats.org/officeDocument/2006/relationships/font" Target="fonts/Figtree-boldItalic.fntdata"/><Relationship Id="rId21" Type="http://schemas.openxmlformats.org/officeDocument/2006/relationships/font" Target="fonts/Figtree-italic.fntdata"/><Relationship Id="rId24" Type="http://schemas.openxmlformats.org/officeDocument/2006/relationships/font" Target="fonts/JostLight-bold.fntdata"/><Relationship Id="rId23" Type="http://schemas.openxmlformats.org/officeDocument/2006/relationships/font" Target="fonts/Jost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JostLight-boldItalic.fntdata"/><Relationship Id="rId25" Type="http://schemas.openxmlformats.org/officeDocument/2006/relationships/font" Target="fonts/JostLight-italic.fntdata"/><Relationship Id="rId28" Type="http://schemas.openxmlformats.org/officeDocument/2006/relationships/font" Target="fonts/FigtreeMedium-bold.fntdata"/><Relationship Id="rId27" Type="http://schemas.openxmlformats.org/officeDocument/2006/relationships/font" Target="fonts/Figtree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Figtree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gtreeLight-regular.fntdata"/><Relationship Id="rId30" Type="http://schemas.openxmlformats.org/officeDocument/2006/relationships/font" Target="fonts/FigtreeMedium-boldItalic.fntdata"/><Relationship Id="rId11" Type="http://schemas.openxmlformats.org/officeDocument/2006/relationships/slide" Target="slides/slide5.xml"/><Relationship Id="rId33" Type="http://schemas.openxmlformats.org/officeDocument/2006/relationships/font" Target="fonts/FigtreeLight-italic.fntdata"/><Relationship Id="rId10" Type="http://schemas.openxmlformats.org/officeDocument/2006/relationships/slide" Target="slides/slide4.xml"/><Relationship Id="rId32" Type="http://schemas.openxmlformats.org/officeDocument/2006/relationships/font" Target="fonts/FigtreeLight-bold.fntdata"/><Relationship Id="rId13" Type="http://schemas.openxmlformats.org/officeDocument/2006/relationships/slide" Target="slides/slide7.xml"/><Relationship Id="rId35" Type="http://schemas.openxmlformats.org/officeDocument/2006/relationships/font" Target="fonts/Jost-regular.fntdata"/><Relationship Id="rId12" Type="http://schemas.openxmlformats.org/officeDocument/2006/relationships/slide" Target="slides/slide6.xml"/><Relationship Id="rId34" Type="http://schemas.openxmlformats.org/officeDocument/2006/relationships/font" Target="fonts/FigtreeLight-boldItalic.fntdata"/><Relationship Id="rId15" Type="http://schemas.openxmlformats.org/officeDocument/2006/relationships/slide" Target="slides/slide9.xml"/><Relationship Id="rId37" Type="http://schemas.openxmlformats.org/officeDocument/2006/relationships/font" Target="fonts/Jost-italic.fntdata"/><Relationship Id="rId14" Type="http://schemas.openxmlformats.org/officeDocument/2006/relationships/slide" Target="slides/slide8.xml"/><Relationship Id="rId36" Type="http://schemas.openxmlformats.org/officeDocument/2006/relationships/font" Target="fonts/Jost-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Jost-boldItalic.fntdata"/><Relationship Id="rId19" Type="http://schemas.openxmlformats.org/officeDocument/2006/relationships/font" Target="fonts/Figtree-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f6efc7182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af6efc7182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f6efc7182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f6efc7182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0519f38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b0519f38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af6efc718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af6efc718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af6efc718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af6efc718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0519f384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0519f384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0519f384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b0519f384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f6efc7182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f6efc7182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af6efc7182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af6efc7182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f6efc7182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f6efc7182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b0519f384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b0519f384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af6efc7182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af6efc7182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 name="Google Shape;13;p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14" name="Google Shape;14;p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15" name="Google Shape;15;p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16"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9" name="Google Shape;19;p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0" name="Google Shape;20;p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21" name="Google Shape;21;p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2" name="Google Shape;22;p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3" name="Google Shape;23;p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4" name="Google Shape;24;p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5" name="Google Shape;25;p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6" name="Google Shape;26;p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7" name="Google Shape;27;p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8" name="Google Shape;28;p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29" name="Google Shape;29;p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0" name="Google Shape;30;p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1" name="Google Shape;31;p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2" name="Google Shape;32;p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3" name="Google Shape;33;p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4" name="Shape 34"/>
        <p:cNvGrpSpPr/>
        <p:nvPr/>
      </p:nvGrpSpPr>
      <p:grpSpPr>
        <a:xfrm>
          <a:off x="0" y="0"/>
          <a:ext cx="0" cy="0"/>
          <a:chOff x="0" y="0"/>
          <a:chExt cx="0" cy="0"/>
        </a:xfrm>
      </p:grpSpPr>
      <p:sp>
        <p:nvSpPr>
          <p:cNvPr id="35" name="Google Shape;35;p4"/>
          <p:cNvSpPr/>
          <p:nvPr>
            <p:ph idx="2" type="pic"/>
          </p:nvPr>
        </p:nvSpPr>
        <p:spPr>
          <a:xfrm>
            <a:off x="0" y="-9000"/>
            <a:ext cx="3054300" cy="3252900"/>
          </a:xfrm>
          <a:prstGeom prst="rect">
            <a:avLst/>
          </a:prstGeom>
          <a:noFill/>
          <a:ln>
            <a:noFill/>
          </a:ln>
        </p:spPr>
      </p:sp>
      <p:sp>
        <p:nvSpPr>
          <p:cNvPr id="36" name="Google Shape;36;p4"/>
          <p:cNvSpPr/>
          <p:nvPr>
            <p:ph idx="3" type="pic"/>
          </p:nvPr>
        </p:nvSpPr>
        <p:spPr>
          <a:xfrm>
            <a:off x="3044117" y="-9000"/>
            <a:ext cx="3054300" cy="3252900"/>
          </a:xfrm>
          <a:prstGeom prst="rect">
            <a:avLst/>
          </a:prstGeom>
          <a:noFill/>
          <a:ln>
            <a:noFill/>
          </a:ln>
        </p:spPr>
      </p:sp>
      <p:sp>
        <p:nvSpPr>
          <p:cNvPr id="37" name="Google Shape;37;p4"/>
          <p:cNvSpPr/>
          <p:nvPr>
            <p:ph idx="4" type="pic"/>
          </p:nvPr>
        </p:nvSpPr>
        <p:spPr>
          <a:xfrm>
            <a:off x="6088233" y="-9000"/>
            <a:ext cx="3054300" cy="3252900"/>
          </a:xfrm>
          <a:prstGeom prst="rect">
            <a:avLst/>
          </a:prstGeom>
          <a:noFill/>
          <a:ln>
            <a:noFill/>
          </a:ln>
        </p:spPr>
      </p:sp>
      <p:sp>
        <p:nvSpPr>
          <p:cNvPr id="38" name="Google Shape;38;p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39" name="Google Shape;39;p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0" name="Google Shape;40;p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1" name="Google Shape;41;p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2" name="Google Shape;42;p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4" name="Google Shape;44;p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9" name="Google Shape;49;p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0" name="Google Shape;50;p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1" name="Google Shape;51;p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 name="Google Shape;52;p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4" name="Google Shape;54;p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5" name="Google Shape;55;p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56" name="Google Shape;56;p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7" name="Google Shape;57;p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8" name="Google Shape;58;p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9" name="Google Shape;59;p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0" name="Google Shape;60;p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1" name="Google Shape;61;p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2" name="Google Shape;62;p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4" name="Google Shape;64;p5"/>
          <p:cNvSpPr/>
          <p:nvPr>
            <p:ph idx="19" type="pic"/>
          </p:nvPr>
        </p:nvSpPr>
        <p:spPr>
          <a:xfrm>
            <a:off x="1726022" y="1991825"/>
            <a:ext cx="1288500" cy="1363800"/>
          </a:xfrm>
          <a:prstGeom prst="roundRect">
            <a:avLst>
              <a:gd fmla="val 6764" name="adj"/>
            </a:avLst>
          </a:prstGeom>
          <a:noFill/>
          <a:ln>
            <a:noFill/>
          </a:ln>
        </p:spPr>
      </p:sp>
      <p:sp>
        <p:nvSpPr>
          <p:cNvPr id="65" name="Google Shape;65;p5"/>
          <p:cNvSpPr/>
          <p:nvPr>
            <p:ph idx="20" type="pic"/>
          </p:nvPr>
        </p:nvSpPr>
        <p:spPr>
          <a:xfrm>
            <a:off x="3194345" y="1991825"/>
            <a:ext cx="1288500" cy="1363800"/>
          </a:xfrm>
          <a:prstGeom prst="roundRect">
            <a:avLst>
              <a:gd fmla="val 6764" name="adj"/>
            </a:avLst>
          </a:prstGeom>
          <a:noFill/>
          <a:ln>
            <a:noFill/>
          </a:ln>
        </p:spPr>
      </p:sp>
      <p:sp>
        <p:nvSpPr>
          <p:cNvPr id="66" name="Google Shape;66;p5"/>
          <p:cNvSpPr/>
          <p:nvPr>
            <p:ph idx="21" type="pic"/>
          </p:nvPr>
        </p:nvSpPr>
        <p:spPr>
          <a:xfrm>
            <a:off x="4662668" y="1991825"/>
            <a:ext cx="1288500" cy="1363800"/>
          </a:xfrm>
          <a:prstGeom prst="roundRect">
            <a:avLst>
              <a:gd fmla="val 6764" name="adj"/>
            </a:avLst>
          </a:prstGeom>
          <a:noFill/>
          <a:ln>
            <a:noFill/>
          </a:ln>
        </p:spPr>
      </p:sp>
      <p:sp>
        <p:nvSpPr>
          <p:cNvPr id="67" name="Google Shape;67;p5"/>
          <p:cNvSpPr/>
          <p:nvPr>
            <p:ph idx="22" type="pic"/>
          </p:nvPr>
        </p:nvSpPr>
        <p:spPr>
          <a:xfrm>
            <a:off x="6130990" y="1991825"/>
            <a:ext cx="1288500" cy="1363800"/>
          </a:xfrm>
          <a:prstGeom prst="roundRect">
            <a:avLst>
              <a:gd fmla="val 6764" name="adj"/>
            </a:avLst>
          </a:prstGeom>
          <a:noFill/>
          <a:ln>
            <a:noFill/>
          </a:ln>
        </p:spPr>
      </p:sp>
      <p:sp>
        <p:nvSpPr>
          <p:cNvPr id="68" name="Google Shape;68;p5"/>
          <p:cNvSpPr/>
          <p:nvPr>
            <p:ph idx="23" type="pic"/>
          </p:nvPr>
        </p:nvSpPr>
        <p:spPr>
          <a:xfrm>
            <a:off x="7599313" y="1991825"/>
            <a:ext cx="1288500" cy="1363800"/>
          </a:xfrm>
          <a:prstGeom prst="roundRect">
            <a:avLst>
              <a:gd fmla="val 6764" name="adj"/>
            </a:avLst>
          </a:prstGeom>
          <a:noFill/>
          <a:ln>
            <a:noFill/>
          </a:ln>
        </p:spPr>
      </p:sp>
      <p:sp>
        <p:nvSpPr>
          <p:cNvPr id="69" name="Google Shape;69;p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70" name="Shape 70"/>
        <p:cNvGrpSpPr/>
        <p:nvPr/>
      </p:nvGrpSpPr>
      <p:grpSpPr>
        <a:xfrm>
          <a:off x="0" y="0"/>
          <a:ext cx="0" cy="0"/>
          <a:chOff x="0" y="0"/>
          <a:chExt cx="0" cy="0"/>
        </a:xfrm>
      </p:grpSpPr>
      <p:sp>
        <p:nvSpPr>
          <p:cNvPr id="71" name="Google Shape;71;p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3" name="Google Shape;73;p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74"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6" name="Google Shape;76;p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78" name="Google Shape;78;p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79" name="Google Shape;79;p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8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85" name="Google Shape;85;p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6" name="Google Shape;86;p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7" name="Google Shape;87;p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88" name="Google Shape;88;p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89" name="Google Shape;89;p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90" name="Google Shape;90;p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9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4" name="Google Shape;94;p9"/>
          <p:cNvSpPr/>
          <p:nvPr>
            <p:ph idx="2" type="pic"/>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96" name="Google Shape;96;p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7" name="Google Shape;97;p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8" name="Google Shape;98;p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9" name="Google Shape;99;p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00" name="Google Shape;100;p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0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4" name="Google Shape;104;p1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5" name="Google Shape;105;p1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6" name="Google Shape;106;p1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07" name="Google Shape;107;p1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8" name="Google Shape;108;p1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09" name="Google Shape;109;p1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10"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3" name="Google Shape;113;p1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4" name="Google Shape;114;p1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5" name="Google Shape;115;p1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16" name="Google Shape;116;p1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17" name="Shape 117"/>
        <p:cNvGrpSpPr/>
        <p:nvPr/>
      </p:nvGrpSpPr>
      <p:grpSpPr>
        <a:xfrm>
          <a:off x="0" y="0"/>
          <a:ext cx="0" cy="0"/>
          <a:chOff x="0" y="0"/>
          <a:chExt cx="0" cy="0"/>
        </a:xfrm>
      </p:grpSpPr>
      <p:sp>
        <p:nvSpPr>
          <p:cNvPr id="118" name="Google Shape;118;p1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19" name="Google Shape;119;p1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20" name="Google Shape;120;p1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1" name="Google Shape;121;p1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2" name="Google Shape;122;p1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3" name="Google Shape;123;p1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4" name="Google Shape;124;p1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5" name="Google Shape;125;p1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6" name="Google Shape;126;p1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7" name="Google Shape;127;p1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8" name="Google Shape;128;p1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9" name="Google Shape;129;p1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0" name="Google Shape;130;p1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3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4" name="Google Shape;134;p1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5" name="Google Shape;135;p1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6" name="Google Shape;136;p1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7" name="Google Shape;137;p1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8" name="Google Shape;138;p13"/>
          <p:cNvSpPr/>
          <p:nvPr>
            <p:ph idx="4" type="pic"/>
          </p:nvPr>
        </p:nvSpPr>
        <p:spPr>
          <a:xfrm>
            <a:off x="230075" y="457200"/>
            <a:ext cx="3681600" cy="2309700"/>
          </a:xfrm>
          <a:prstGeom prst="rect">
            <a:avLst/>
          </a:prstGeom>
          <a:noFill/>
          <a:ln>
            <a:noFill/>
          </a:ln>
        </p:spPr>
      </p:sp>
      <p:sp>
        <p:nvSpPr>
          <p:cNvPr id="139" name="Google Shape;139;p1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0" name="Google Shape;140;p1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1" name="Google Shape;141;p1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2" name="Google Shape;142;p1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3" name="Google Shape;143;p1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4" name="Google Shape;144;p1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45" name="Shape 145"/>
        <p:cNvGrpSpPr/>
        <p:nvPr/>
      </p:nvGrpSpPr>
      <p:grpSpPr>
        <a:xfrm>
          <a:off x="0" y="0"/>
          <a:ext cx="0" cy="0"/>
          <a:chOff x="0" y="0"/>
          <a:chExt cx="0" cy="0"/>
        </a:xfrm>
      </p:grpSpPr>
      <p:sp>
        <p:nvSpPr>
          <p:cNvPr id="146" name="Google Shape;146;p1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7" name="Google Shape;147;p1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8" name="Google Shape;148;p1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9" name="Google Shape;149;p1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0" name="Google Shape;150;p1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51" name="Google Shape;151;p1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52" name="Shape 152"/>
        <p:cNvGrpSpPr/>
        <p:nvPr/>
      </p:nvGrpSpPr>
      <p:grpSpPr>
        <a:xfrm>
          <a:off x="0" y="0"/>
          <a:ext cx="0" cy="0"/>
          <a:chOff x="0" y="0"/>
          <a:chExt cx="0" cy="0"/>
        </a:xfrm>
      </p:grpSpPr>
      <p:sp>
        <p:nvSpPr>
          <p:cNvPr id="153" name="Google Shape;153;p1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4" name="Google Shape;154;p1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5" name="Google Shape;155;p1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6" name="Google Shape;156;p1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57" name="Google Shape;157;p1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58" name="Google Shape;158;p1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9" name="Google Shape;159;p1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0" name="Google Shape;160;p1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1" name="Google Shape;161;p1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2" name="Google Shape;162;p1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3" name="Google Shape;163;p1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4" name="Google Shape;164;p1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5" name="Google Shape;165;p1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6" name="Google Shape;166;p1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7" name="Google Shape;167;p1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68" name="Shape 168"/>
        <p:cNvGrpSpPr/>
        <p:nvPr/>
      </p:nvGrpSpPr>
      <p:grpSpPr>
        <a:xfrm>
          <a:off x="0" y="0"/>
          <a:ext cx="0" cy="0"/>
          <a:chOff x="0" y="0"/>
          <a:chExt cx="0" cy="0"/>
        </a:xfrm>
      </p:grpSpPr>
      <p:sp>
        <p:nvSpPr>
          <p:cNvPr id="169" name="Google Shape;169;p1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0" name="Google Shape;170;p1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1" name="Google Shape;171;p1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2" name="Google Shape;172;p1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3" name="Google Shape;173;p1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4" name="Google Shape;174;p1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5" name="Google Shape;175;p1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6" name="Google Shape;176;p1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177"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1" name="Google Shape;181;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1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3" name="Google Shape;183;p1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4" name="Google Shape;184;p1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5" name="Google Shape;185;p1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6" name="Google Shape;186;p1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1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1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9" name="Google Shape;189;p1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0" name="Google Shape;190;p1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1" name="Google Shape;191;p1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2" name="Google Shape;192;p1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193" name="Google Shape;193;p1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194"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96" name="Google Shape;19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7" name="Google Shape;19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8" name="Google Shape;198;p1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9" name="Google Shape;199;p1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0" name="Google Shape;200;p1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1" name="Google Shape;201;p1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2" name="Google Shape;202;p1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3" name="Google Shape;203;p1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1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5" name="Google Shape;205;p1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6" name="Google Shape;206;p1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07"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09" name="Google Shape;209;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0" name="Google Shape;210;p1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1" name="Google Shape;211;p1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2" name="Google Shape;212;p1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3" name="Google Shape;213;p1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4" name="Google Shape;214;p1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1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6" name="Google Shape;216;p1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7" name="Google Shape;217;p1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8" name="Google Shape;218;p1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9" name="Google Shape;219;p1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20" name="Google Shape;220;p1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21" name="Shape 221"/>
        <p:cNvGrpSpPr/>
        <p:nvPr/>
      </p:nvGrpSpPr>
      <p:grpSpPr>
        <a:xfrm>
          <a:off x="0" y="0"/>
          <a:ext cx="0" cy="0"/>
          <a:chOff x="0" y="0"/>
          <a:chExt cx="0" cy="0"/>
        </a:xfrm>
      </p:grpSpPr>
      <p:sp>
        <p:nvSpPr>
          <p:cNvPr id="222" name="Google Shape;222;p2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24" name="Google Shape;224;p20"/>
          <p:cNvPicPr preferRelativeResize="0"/>
          <p:nvPr/>
        </p:nvPicPr>
        <p:blipFill rotWithShape="1">
          <a:blip r:embed="rId2">
            <a:alphaModFix/>
          </a:blip>
          <a:srcRect b="14406" l="0" r="0" t="14413"/>
          <a:stretch/>
        </p:blipFill>
        <p:spPr>
          <a:xfrm>
            <a:off x="2517525" y="1875150"/>
            <a:ext cx="2822973" cy="1350004"/>
          </a:xfrm>
          <a:prstGeom prst="rect">
            <a:avLst/>
          </a:prstGeom>
          <a:noFill/>
          <a:ln>
            <a:noFill/>
          </a:ln>
        </p:spPr>
      </p:pic>
      <p:sp>
        <p:nvSpPr>
          <p:cNvPr id="225" name="Google Shape;225;p2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6" name="Google Shape;226;p2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7" name="Google Shape;227;p2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8" name="Google Shape;228;p2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1" name="Google Shape;231;p2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2" name="Google Shape;232;p2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3" name="Google Shape;233;p2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4" name="Google Shape;234;p2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5" name="Google Shape;235;p2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6" name="Google Shape;236;p2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7" name="Google Shape;237;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8" name="Google Shape;238;p2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9" name="Google Shape;239;p2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40"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3" name="Google Shape;243;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4" name="Google Shape;244;p2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45" name="Google Shape;245;p2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6" name="Google Shape;246;p2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7" name="Google Shape;247;p2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8" name="Google Shape;248;p2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9" name="Google Shape;249;p2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0" name="Google Shape;250;p2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51" name="Google Shape;251;p2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52"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2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57" name="Google Shape;257;p2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2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59" name="Google Shape;259;p2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0" name="Google Shape;260;p2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1" name="Google Shape;261;p2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2" name="Google Shape;262;p2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3" name="Google Shape;263;p2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4" name="Google Shape;264;p2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265" name="Google Shape;265;p2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6" name="Google Shape;266;p2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7" name="Google Shape;267;p2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8" name="Google Shape;268;p2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9" name="Google Shape;269;p2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70" name="Google Shape;270;p2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71" name="Google Shape;271;p2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72" name="Shape 272"/>
        <p:cNvGrpSpPr/>
        <p:nvPr/>
      </p:nvGrpSpPr>
      <p:grpSpPr>
        <a:xfrm>
          <a:off x="0" y="0"/>
          <a:ext cx="0" cy="0"/>
          <a:chOff x="0" y="0"/>
          <a:chExt cx="0" cy="0"/>
        </a:xfrm>
      </p:grpSpPr>
      <p:sp>
        <p:nvSpPr>
          <p:cNvPr id="273" name="Google Shape;273;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4" name="Google Shape;274;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5" name="Google Shape;275;p2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76" name="Google Shape;276;p2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77" name="Google Shape;277;p2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78" name="Google Shape;278;p2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79" name="Google Shape;279;p2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0" name="Google Shape;280;p2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1" name="Google Shape;281;p2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2" name="Google Shape;282;p2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3" name="Google Shape;283;p2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4" name="Google Shape;284;p2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5" name="Google Shape;285;p2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6" name="Google Shape;286;p2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7" name="Google Shape;287;p2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8" name="Google Shape;288;p2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289"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2" name="Google Shape;292;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3" name="Google Shape;293;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4" name="Google Shape;294;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5" name="Google Shape;295;p2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6" name="Google Shape;296;p2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297" name="Google Shape;297;p2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298" name="Google Shape;298;p2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9" name="Google Shape;299;p2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0" name="Google Shape;300;p2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01" name="Google Shape;301;p2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02" name="Google Shape;302;p2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3" name="Google Shape;303;p2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04"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06" name="Google Shape;306;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7" name="Google Shape;307;p2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8" name="Google Shape;308;p2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09" name="Google Shape;309;p2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10" name="Google Shape;310;p2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1" name="Google Shape;311;p2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2" name="Google Shape;312;p2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3" name="Google Shape;313;p2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4" name="Google Shape;314;p2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5" name="Google Shape;315;p2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6" name="Google Shape;316;p2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17" name="Google Shape;317;p2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8" name="Google Shape;318;p2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9" name="Google Shape;319;p2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0" name="Google Shape;320;p2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1" name="Google Shape;321;p2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2" name="Google Shape;322;p2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3" name="Google Shape;323;p2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4" name="Google Shape;324;p2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5" name="Google Shape;325;p2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26"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9" name="Google Shape;329;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0" name="Google Shape;330;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1" name="Google Shape;331;p2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33" name="Google Shape;333;p2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3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4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5" name="Google Shape;385;p4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4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4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ph idx="2" type="pic"/>
          </p:nvPr>
        </p:nvSpPr>
        <p:spPr>
          <a:xfrm>
            <a:off x="4804825" y="1133300"/>
            <a:ext cx="4027500" cy="2392800"/>
          </a:xfrm>
          <a:prstGeom prst="rect">
            <a:avLst/>
          </a:prstGeom>
          <a:noFill/>
          <a:ln>
            <a:noFill/>
          </a:ln>
        </p:spPr>
      </p:sp>
      <p:sp>
        <p:nvSpPr>
          <p:cNvPr id="405" name="Google Shape;405;p44"/>
          <p:cNvSpPr/>
          <p:nvPr>
            <p:ph idx="3" type="pic"/>
          </p:nvPr>
        </p:nvSpPr>
        <p:spPr>
          <a:xfrm>
            <a:off x="311725" y="1133300"/>
            <a:ext cx="4027500" cy="2392800"/>
          </a:xfrm>
          <a:prstGeom prst="rect">
            <a:avLst/>
          </a:prstGeom>
          <a:noFill/>
          <a:ln>
            <a:noFill/>
          </a:ln>
        </p:spPr>
      </p:sp>
      <p:sp>
        <p:nvSpPr>
          <p:cNvPr id="406" name="Google Shape;406;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4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5"/>
          <p:cNvSpPr/>
          <p:nvPr>
            <p:ph idx="2" type="pic"/>
          </p:nvPr>
        </p:nvSpPr>
        <p:spPr>
          <a:xfrm>
            <a:off x="6205225" y="1128325"/>
            <a:ext cx="2627100" cy="2273100"/>
          </a:xfrm>
          <a:prstGeom prst="rect">
            <a:avLst/>
          </a:prstGeom>
          <a:noFill/>
          <a:ln>
            <a:noFill/>
          </a:ln>
        </p:spPr>
      </p:sp>
      <p:sp>
        <p:nvSpPr>
          <p:cNvPr id="413" name="Google Shape;413;p45"/>
          <p:cNvSpPr/>
          <p:nvPr>
            <p:ph idx="3" type="pic"/>
          </p:nvPr>
        </p:nvSpPr>
        <p:spPr>
          <a:xfrm>
            <a:off x="311725" y="1128325"/>
            <a:ext cx="2627100" cy="2273100"/>
          </a:xfrm>
          <a:prstGeom prst="rect">
            <a:avLst/>
          </a:prstGeom>
          <a:noFill/>
          <a:ln>
            <a:noFill/>
          </a:ln>
        </p:spPr>
      </p:sp>
      <p:sp>
        <p:nvSpPr>
          <p:cNvPr id="414" name="Google Shape;414;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5"/>
          <p:cNvSpPr/>
          <p:nvPr>
            <p:ph idx="5" type="pic"/>
          </p:nvPr>
        </p:nvSpPr>
        <p:spPr>
          <a:xfrm>
            <a:off x="3255250" y="1128325"/>
            <a:ext cx="2627100" cy="2273100"/>
          </a:xfrm>
          <a:prstGeom prst="rect">
            <a:avLst/>
          </a:prstGeom>
          <a:noFill/>
          <a:ln>
            <a:noFill/>
          </a:ln>
        </p:spPr>
      </p:sp>
      <p:sp>
        <p:nvSpPr>
          <p:cNvPr id="416" name="Google Shape;416;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7"/>
          <p:cNvSpPr/>
          <p:nvPr>
            <p:ph idx="2" type="pic"/>
          </p:nvPr>
        </p:nvSpPr>
        <p:spPr>
          <a:xfrm>
            <a:off x="3389600" y="118913"/>
            <a:ext cx="1643700" cy="1535100"/>
          </a:xfrm>
          <a:prstGeom prst="rect">
            <a:avLst/>
          </a:prstGeom>
          <a:noFill/>
          <a:ln>
            <a:noFill/>
          </a:ln>
        </p:spPr>
      </p:sp>
      <p:sp>
        <p:nvSpPr>
          <p:cNvPr id="425" name="Google Shape;425;p47"/>
          <p:cNvSpPr/>
          <p:nvPr>
            <p:ph idx="3" type="pic"/>
          </p:nvPr>
        </p:nvSpPr>
        <p:spPr>
          <a:xfrm>
            <a:off x="5195935" y="118913"/>
            <a:ext cx="1643700" cy="1535100"/>
          </a:xfrm>
          <a:prstGeom prst="rect">
            <a:avLst/>
          </a:prstGeom>
          <a:noFill/>
          <a:ln>
            <a:noFill/>
          </a:ln>
        </p:spPr>
      </p:sp>
      <p:sp>
        <p:nvSpPr>
          <p:cNvPr id="426" name="Google Shape;426;p47"/>
          <p:cNvSpPr/>
          <p:nvPr>
            <p:ph idx="4" type="pic"/>
          </p:nvPr>
        </p:nvSpPr>
        <p:spPr>
          <a:xfrm>
            <a:off x="7002270" y="118913"/>
            <a:ext cx="1643700" cy="1535100"/>
          </a:xfrm>
          <a:prstGeom prst="rect">
            <a:avLst/>
          </a:prstGeom>
          <a:noFill/>
          <a:ln>
            <a:noFill/>
          </a:ln>
        </p:spPr>
      </p:sp>
      <p:sp>
        <p:nvSpPr>
          <p:cNvPr id="427" name="Google Shape;427;p47"/>
          <p:cNvSpPr/>
          <p:nvPr>
            <p:ph idx="5" type="pic"/>
          </p:nvPr>
        </p:nvSpPr>
        <p:spPr>
          <a:xfrm>
            <a:off x="3389588" y="1804212"/>
            <a:ext cx="1643700" cy="1535100"/>
          </a:xfrm>
          <a:prstGeom prst="rect">
            <a:avLst/>
          </a:prstGeom>
          <a:noFill/>
          <a:ln>
            <a:noFill/>
          </a:ln>
        </p:spPr>
      </p:sp>
      <p:sp>
        <p:nvSpPr>
          <p:cNvPr id="428" name="Google Shape;428;p47"/>
          <p:cNvSpPr/>
          <p:nvPr>
            <p:ph idx="6" type="pic"/>
          </p:nvPr>
        </p:nvSpPr>
        <p:spPr>
          <a:xfrm>
            <a:off x="5195922" y="1804212"/>
            <a:ext cx="1643700" cy="1535100"/>
          </a:xfrm>
          <a:prstGeom prst="rect">
            <a:avLst/>
          </a:prstGeom>
          <a:noFill/>
          <a:ln>
            <a:noFill/>
          </a:ln>
        </p:spPr>
      </p:sp>
      <p:sp>
        <p:nvSpPr>
          <p:cNvPr id="429" name="Google Shape;429;p47"/>
          <p:cNvSpPr/>
          <p:nvPr>
            <p:ph idx="7" type="pic"/>
          </p:nvPr>
        </p:nvSpPr>
        <p:spPr>
          <a:xfrm>
            <a:off x="7002257" y="1804212"/>
            <a:ext cx="1643700" cy="1535100"/>
          </a:xfrm>
          <a:prstGeom prst="rect">
            <a:avLst/>
          </a:prstGeom>
          <a:noFill/>
          <a:ln>
            <a:noFill/>
          </a:ln>
        </p:spPr>
      </p:sp>
      <p:sp>
        <p:nvSpPr>
          <p:cNvPr id="430" name="Google Shape;430;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47"/>
          <p:cNvSpPr/>
          <p:nvPr>
            <p:ph idx="8" type="pic"/>
          </p:nvPr>
        </p:nvSpPr>
        <p:spPr>
          <a:xfrm>
            <a:off x="3389588" y="3489487"/>
            <a:ext cx="1643700" cy="1535100"/>
          </a:xfrm>
          <a:prstGeom prst="rect">
            <a:avLst/>
          </a:prstGeom>
          <a:noFill/>
          <a:ln>
            <a:noFill/>
          </a:ln>
        </p:spPr>
      </p:sp>
      <p:sp>
        <p:nvSpPr>
          <p:cNvPr id="432" name="Google Shape;432;p47"/>
          <p:cNvSpPr/>
          <p:nvPr>
            <p:ph idx="9" type="pic"/>
          </p:nvPr>
        </p:nvSpPr>
        <p:spPr>
          <a:xfrm>
            <a:off x="5195922" y="3489487"/>
            <a:ext cx="1643700" cy="1535100"/>
          </a:xfrm>
          <a:prstGeom prst="rect">
            <a:avLst/>
          </a:prstGeom>
          <a:noFill/>
          <a:ln>
            <a:noFill/>
          </a:ln>
        </p:spPr>
      </p:sp>
      <p:sp>
        <p:nvSpPr>
          <p:cNvPr id="433" name="Google Shape;433;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 name="Google Shape;7;p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 name="Google Shape;8;p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9" name="Google Shape;9;p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hyperlink" Target="https://api.open-meteo.com/v1/forecast" TargetMode="External"/><Relationship Id="rId4" Type="http://schemas.openxmlformats.org/officeDocument/2006/relationships/hyperlink" Target="https://api.openbrewerydb.org/v1/breweri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hyperlink" Target="https://api.open-meteo.com/v1/forecast" TargetMode="External"/><Relationship Id="rId4" Type="http://schemas.openxmlformats.org/officeDocument/2006/relationships/hyperlink" Target="https://api.openbrewerydb.org/v1/brewer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idx="3" type="title"/>
          </p:nvPr>
        </p:nvSpPr>
        <p:spPr>
          <a:xfrm>
            <a:off x="172050" y="1849650"/>
            <a:ext cx="8858700" cy="1444200"/>
          </a:xfrm>
          <a:prstGeom prst="rect">
            <a:avLst/>
          </a:prstGeom>
        </p:spPr>
        <p:txBody>
          <a:bodyPr anchorCtr="0" anchor="t" bIns="91425" lIns="0" spcFirstLastPara="1" rIns="91425" wrap="square" tIns="91425">
            <a:noAutofit/>
          </a:bodyPr>
          <a:lstStyle/>
          <a:p>
            <a:pPr indent="0" lvl="0" marL="0" rtl="0" algn="ctr">
              <a:spcBef>
                <a:spcPts val="0"/>
              </a:spcBef>
              <a:spcAft>
                <a:spcPts val="0"/>
              </a:spcAft>
              <a:buNone/>
            </a:pPr>
            <a:r>
              <a:rPr b="1" lang="en" sz="7500"/>
              <a:t>FINAL PROJECT</a:t>
            </a:r>
            <a:endParaRPr b="1" sz="7500"/>
          </a:p>
          <a:p>
            <a:pPr indent="0" lvl="0" marL="0" rtl="0" algn="ctr">
              <a:spcBef>
                <a:spcPts val="0"/>
              </a:spcBef>
              <a:spcAft>
                <a:spcPts val="0"/>
              </a:spcAft>
              <a:buNone/>
            </a:pPr>
            <a:r>
              <a:rPr b="1" lang="en" sz="7500"/>
              <a:t>REPORT</a:t>
            </a:r>
            <a:endParaRPr b="1" sz="7500"/>
          </a:p>
        </p:txBody>
      </p:sp>
      <p:sp>
        <p:nvSpPr>
          <p:cNvPr id="439" name="Google Shape;439;p48"/>
          <p:cNvSpPr txBox="1"/>
          <p:nvPr>
            <p:ph type="title"/>
          </p:nvPr>
        </p:nvSpPr>
        <p:spPr>
          <a:xfrm>
            <a:off x="172050" y="4587137"/>
            <a:ext cx="73104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solidFill>
                  <a:schemeClr val="accent4"/>
                </a:solidFill>
              </a:rPr>
              <a:t>Marco Britton</a:t>
            </a:r>
            <a:endParaRPr sz="1100">
              <a:solidFill>
                <a:schemeClr val="accent4"/>
              </a:solidFill>
            </a:endParaRPr>
          </a:p>
          <a:p>
            <a:pPr indent="0" lvl="0" marL="0" rtl="0" algn="l">
              <a:spcBef>
                <a:spcPts val="0"/>
              </a:spcBef>
              <a:spcAft>
                <a:spcPts val="0"/>
              </a:spcAft>
              <a:buNone/>
            </a:pPr>
            <a:r>
              <a:rPr lang="en" sz="1100">
                <a:solidFill>
                  <a:schemeClr val="accent4"/>
                </a:solidFill>
              </a:rPr>
              <a:t>Brendon Lee</a:t>
            </a:r>
            <a:endParaRPr sz="1100">
              <a:solidFill>
                <a:schemeClr val="accent4"/>
              </a:solidFill>
            </a:endParaRPr>
          </a:p>
        </p:txBody>
      </p:sp>
      <p:sp>
        <p:nvSpPr>
          <p:cNvPr id="440" name="Google Shape;440;p48"/>
          <p:cNvSpPr txBox="1"/>
          <p:nvPr>
            <p:ph idx="1" type="subTitle"/>
          </p:nvPr>
        </p:nvSpPr>
        <p:spPr>
          <a:xfrm>
            <a:off x="172050" y="883250"/>
            <a:ext cx="1375800" cy="615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600"/>
              <a:t>SI 201 </a:t>
            </a:r>
            <a:endParaRPr b="1" sz="1600"/>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441" name="Google Shape;441;p48"/>
          <p:cNvSpPr txBox="1"/>
          <p:nvPr>
            <p:ph idx="2" type="subTitle"/>
          </p:nvPr>
        </p:nvSpPr>
        <p:spPr>
          <a:xfrm>
            <a:off x="172050" y="685425"/>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solidFill>
                  <a:srgbClr val="FFFF00"/>
                </a:solidFill>
              </a:rPr>
              <a:t>Fall 2025</a:t>
            </a:r>
            <a:endParaRPr b="1">
              <a:solidFill>
                <a:srgbClr val="FFFF00"/>
              </a:solidFill>
            </a:endParaRPr>
          </a:p>
        </p:txBody>
      </p:sp>
      <p:sp>
        <p:nvSpPr>
          <p:cNvPr id="442" name="Google Shape;442;p48"/>
          <p:cNvSpPr txBox="1"/>
          <p:nvPr>
            <p:ph idx="1" type="subTitle"/>
          </p:nvPr>
        </p:nvSpPr>
        <p:spPr>
          <a:xfrm>
            <a:off x="172050" y="4120869"/>
            <a:ext cx="27120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sz="1300">
                <a:solidFill>
                  <a:schemeClr val="accent4"/>
                </a:solidFill>
              </a:rPr>
              <a:t>Group name: Rush Hour</a:t>
            </a:r>
            <a:endParaRPr b="1" sz="1300">
              <a:solidFill>
                <a:schemeClr val="accent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ph idx="1" type="subTitle"/>
          </p:nvPr>
        </p:nvSpPr>
        <p:spPr>
          <a:xfrm>
            <a:off x="265250" y="676656"/>
            <a:ext cx="4653900" cy="44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i="1" lang="en" sz="2200">
                <a:latin typeface="Figtree"/>
                <a:ea typeface="Figtree"/>
                <a:cs typeface="Figtree"/>
                <a:sym typeface="Figtree"/>
              </a:rPr>
              <a:t>Project Goal, API plan </a:t>
            </a:r>
            <a:endParaRPr b="1" i="1" sz="2200">
              <a:latin typeface="Figtree"/>
              <a:ea typeface="Figtree"/>
              <a:cs typeface="Figtree"/>
              <a:sym typeface="Figtree"/>
            </a:endParaRPr>
          </a:p>
        </p:txBody>
      </p:sp>
      <p:sp>
        <p:nvSpPr>
          <p:cNvPr id="448" name="Google Shape;448;p49"/>
          <p:cNvSpPr txBox="1"/>
          <p:nvPr>
            <p:ph idx="3" type="title"/>
          </p:nvPr>
        </p:nvSpPr>
        <p:spPr>
          <a:xfrm>
            <a:off x="265250" y="1532975"/>
            <a:ext cx="7224600" cy="3114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1800" u="sng"/>
              <a:t>Project goal: </a:t>
            </a:r>
            <a:endParaRPr b="1" sz="1800" u="sng"/>
          </a:p>
          <a:p>
            <a:pPr indent="0" lvl="0" marL="0" rtl="0" algn="l">
              <a:spcBef>
                <a:spcPts val="0"/>
              </a:spcBef>
              <a:spcAft>
                <a:spcPts val="0"/>
              </a:spcAft>
              <a:buNone/>
            </a:pPr>
            <a:r>
              <a:t/>
            </a:r>
            <a:endParaRPr sz="1800"/>
          </a:p>
          <a:p>
            <a:pPr indent="0" lvl="0" marL="0" rtl="0" algn="l">
              <a:spcBef>
                <a:spcPts val="0"/>
              </a:spcBef>
              <a:spcAft>
                <a:spcPts val="0"/>
              </a:spcAft>
              <a:buNone/>
            </a:pPr>
            <a:r>
              <a:rPr lang="en" sz="1800"/>
              <a:t>To analyze the correlation between local weather and the number of breweries in different cities using public APIs. We seek to determine whether warmer cities tend to have more breweries than colder ones.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lnSpc>
                <a:spcPct val="150000"/>
              </a:lnSpc>
              <a:spcBef>
                <a:spcPts val="0"/>
              </a:spcBef>
              <a:spcAft>
                <a:spcPts val="0"/>
              </a:spcAft>
              <a:buNone/>
            </a:pPr>
            <a:r>
              <a:rPr b="1" lang="en" sz="1800" u="sng"/>
              <a:t>APIs :</a:t>
            </a:r>
            <a:r>
              <a:rPr b="1" lang="en" sz="1800" u="sng"/>
              <a:t> </a:t>
            </a:r>
            <a:endParaRPr b="1" sz="1800" u="sng"/>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u="sng">
                <a:solidFill>
                  <a:schemeClr val="hlink"/>
                </a:solidFill>
                <a:hlinkClick r:id="rId3"/>
              </a:rPr>
              <a:t>https://api.open-meteo.com/v1/forecast</a:t>
            </a:r>
            <a:r>
              <a:rPr lang="en" sz="1800"/>
              <a:t> (open-meteo)</a:t>
            </a:r>
            <a:endParaRPr sz="1800"/>
          </a:p>
          <a:p>
            <a:pPr indent="-342900" lvl="0" marL="457200" rtl="0" algn="l">
              <a:spcBef>
                <a:spcPts val="0"/>
              </a:spcBef>
              <a:spcAft>
                <a:spcPts val="0"/>
              </a:spcAft>
              <a:buSzPts val="1800"/>
              <a:buChar char="●"/>
            </a:pPr>
            <a:r>
              <a:rPr lang="en" sz="1800" u="sng">
                <a:solidFill>
                  <a:schemeClr val="hlink"/>
                </a:solidFill>
                <a:hlinkClick r:id="rId4"/>
              </a:rPr>
              <a:t>https://api.openbrewerydb.org/v1/breweries</a:t>
            </a:r>
            <a:r>
              <a:rPr lang="en" sz="1800"/>
              <a:t> (open-brewery DB)</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200">
              <a:solidFill>
                <a:srgbClr val="CE9178"/>
              </a:solidFill>
              <a:highlight>
                <a:srgbClr val="1F1F1F"/>
              </a:highlight>
            </a:endParaRPr>
          </a:p>
          <a:p>
            <a:pPr indent="0" lvl="0" marL="0" rtl="0" algn="l">
              <a:spcBef>
                <a:spcPts val="0"/>
              </a:spcBef>
              <a:spcAft>
                <a:spcPts val="0"/>
              </a:spcAft>
              <a:buNone/>
            </a:pPr>
            <a:r>
              <a:t/>
            </a:r>
            <a:endParaRPr sz="1200">
              <a:solidFill>
                <a:srgbClr val="CE9178"/>
              </a:solidFill>
              <a:highlight>
                <a:srgbClr val="1F1F1F"/>
              </a:highlight>
            </a:endParaRPr>
          </a:p>
          <a:p>
            <a:pPr indent="0" lvl="0" marL="0" rtl="0" algn="l">
              <a:spcBef>
                <a:spcPts val="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0"/>
          <p:cNvSpPr txBox="1"/>
          <p:nvPr>
            <p:ph idx="1" type="subTitle"/>
          </p:nvPr>
        </p:nvSpPr>
        <p:spPr>
          <a:xfrm>
            <a:off x="265250" y="676656"/>
            <a:ext cx="4653900" cy="445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i="1" lang="en" sz="2200">
                <a:latin typeface="Figtree"/>
                <a:ea typeface="Figtree"/>
                <a:cs typeface="Figtree"/>
                <a:sym typeface="Figtree"/>
              </a:rPr>
              <a:t>Goal Achieved</a:t>
            </a:r>
            <a:endParaRPr b="1" i="1" sz="2200">
              <a:latin typeface="Figtree"/>
              <a:ea typeface="Figtree"/>
              <a:cs typeface="Figtree"/>
              <a:sym typeface="Figtree"/>
            </a:endParaRPr>
          </a:p>
        </p:txBody>
      </p:sp>
      <p:sp>
        <p:nvSpPr>
          <p:cNvPr id="454" name="Google Shape;454;p50"/>
          <p:cNvSpPr txBox="1"/>
          <p:nvPr>
            <p:ph idx="3" type="title"/>
          </p:nvPr>
        </p:nvSpPr>
        <p:spPr>
          <a:xfrm>
            <a:off x="265250" y="1536192"/>
            <a:ext cx="7764000" cy="311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We successfully used the planned APIs to grab datas from open-brewery DB and open-meteo. We gathered the total number of breweries from Ann Arbor, MI and then Dallas, TX and 109 days of historical local weather temps of  to calculate and visualize the data.</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lnSpc>
                <a:spcPct val="150000"/>
              </a:lnSpc>
              <a:spcBef>
                <a:spcPts val="0"/>
              </a:spcBef>
              <a:spcAft>
                <a:spcPts val="0"/>
              </a:spcAft>
              <a:buClr>
                <a:schemeClr val="lt1"/>
              </a:buClr>
              <a:buSzPts val="1100"/>
              <a:buFont typeface="Arial"/>
              <a:buNone/>
            </a:pPr>
            <a:r>
              <a:rPr b="1" lang="en" sz="1800" u="sng"/>
              <a:t>APIs : </a:t>
            </a:r>
            <a:endParaRPr b="1" sz="1800" u="sng"/>
          </a:p>
          <a:p>
            <a:pPr indent="0" lvl="0" marL="0" rtl="0" algn="l">
              <a:spcBef>
                <a:spcPts val="0"/>
              </a:spcBef>
              <a:spcAft>
                <a:spcPts val="0"/>
              </a:spcAft>
              <a:buClr>
                <a:schemeClr val="lt1"/>
              </a:buClr>
              <a:buSzPts val="1100"/>
              <a:buFont typeface="Arial"/>
              <a:buNone/>
            </a:pPr>
            <a:r>
              <a:t/>
            </a:r>
            <a:endParaRPr sz="1800"/>
          </a:p>
          <a:p>
            <a:pPr indent="-342900" lvl="0" marL="457200" rtl="0" algn="l">
              <a:spcBef>
                <a:spcPts val="0"/>
              </a:spcBef>
              <a:spcAft>
                <a:spcPts val="0"/>
              </a:spcAft>
              <a:buSzPts val="1800"/>
              <a:buChar char="●"/>
            </a:pPr>
            <a:r>
              <a:rPr lang="en" sz="1800" u="sng">
                <a:solidFill>
                  <a:schemeClr val="hlink"/>
                </a:solidFill>
                <a:hlinkClick r:id="rId3"/>
              </a:rPr>
              <a:t>https://api.open-meteo.com/v1/forecast</a:t>
            </a:r>
            <a:r>
              <a:rPr lang="en" sz="1800"/>
              <a:t> (open-meteo)</a:t>
            </a:r>
            <a:endParaRPr sz="1800"/>
          </a:p>
          <a:p>
            <a:pPr indent="-342900" lvl="0" marL="457200" rtl="0" algn="l">
              <a:spcBef>
                <a:spcPts val="0"/>
              </a:spcBef>
              <a:spcAft>
                <a:spcPts val="0"/>
              </a:spcAft>
              <a:buSzPts val="1800"/>
              <a:buChar char="●"/>
            </a:pPr>
            <a:r>
              <a:rPr lang="en" sz="1800" u="sng">
                <a:solidFill>
                  <a:schemeClr val="hlink"/>
                </a:solidFill>
                <a:hlinkClick r:id="rId4"/>
              </a:rPr>
              <a:t>https://api.openbrewerydb.org/v1/breweries</a:t>
            </a:r>
            <a:r>
              <a:rPr lang="en" sz="1800"/>
              <a:t> (open-brewery DB)</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200">
              <a:solidFill>
                <a:srgbClr val="CE9178"/>
              </a:solidFill>
              <a:highlight>
                <a:srgbClr val="1F1F1F"/>
              </a:highlight>
            </a:endParaRPr>
          </a:p>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txBox="1"/>
          <p:nvPr>
            <p:ph idx="2" type="title"/>
          </p:nvPr>
        </p:nvSpPr>
        <p:spPr>
          <a:xfrm>
            <a:off x="265176" y="679800"/>
            <a:ext cx="3432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Problems faced</a:t>
            </a:r>
            <a:endParaRPr b="1" i="1" sz="2200"/>
          </a:p>
        </p:txBody>
      </p:sp>
      <p:sp>
        <p:nvSpPr>
          <p:cNvPr id="460" name="Google Shape;460;p51"/>
          <p:cNvSpPr txBox="1"/>
          <p:nvPr>
            <p:ph idx="1" type="subTitle"/>
          </p:nvPr>
        </p:nvSpPr>
        <p:spPr>
          <a:xfrm>
            <a:off x="265176" y="1536192"/>
            <a:ext cx="5812800" cy="1939500"/>
          </a:xfrm>
          <a:prstGeom prst="rect">
            <a:avLst/>
          </a:prstGeom>
        </p:spPr>
        <p:txBody>
          <a:bodyPr anchorCtr="0" anchor="t" bIns="0" lIns="0" spcFirstLastPara="1" rIns="0" wrap="square" tIns="0">
            <a:spAutoFit/>
          </a:bodyPr>
          <a:lstStyle/>
          <a:p>
            <a:pPr indent="-342900" lvl="0" marL="457200" rtl="0" algn="l">
              <a:lnSpc>
                <a:spcPct val="150000"/>
              </a:lnSpc>
              <a:spcBef>
                <a:spcPts val="0"/>
              </a:spcBef>
              <a:spcAft>
                <a:spcPts val="0"/>
              </a:spcAft>
              <a:buClr>
                <a:schemeClr val="dk1"/>
              </a:buClr>
              <a:buSzPts val="1800"/>
              <a:buChar char="❖"/>
            </a:pPr>
            <a:r>
              <a:rPr lang="en" sz="1800"/>
              <a:t>Finding free and usable APIs</a:t>
            </a:r>
            <a:endParaRPr sz="1800"/>
          </a:p>
          <a:p>
            <a:pPr indent="-342900" lvl="0" marL="457200" rtl="0" algn="l">
              <a:lnSpc>
                <a:spcPct val="150000"/>
              </a:lnSpc>
              <a:spcBef>
                <a:spcPts val="0"/>
              </a:spcBef>
              <a:spcAft>
                <a:spcPts val="0"/>
              </a:spcAft>
              <a:buClr>
                <a:schemeClr val="dk1"/>
              </a:buClr>
              <a:buSzPts val="1800"/>
              <a:buChar char="❖"/>
            </a:pPr>
            <a:r>
              <a:rPr lang="en" sz="1800"/>
              <a:t>Duplicate string data in dataset</a:t>
            </a:r>
            <a:endParaRPr sz="1800"/>
          </a:p>
          <a:p>
            <a:pPr indent="-342900" lvl="0" marL="457200" rtl="0" algn="l">
              <a:lnSpc>
                <a:spcPct val="150000"/>
              </a:lnSpc>
              <a:spcBef>
                <a:spcPts val="0"/>
              </a:spcBef>
              <a:spcAft>
                <a:spcPts val="0"/>
              </a:spcAft>
              <a:buClr>
                <a:schemeClr val="dk1"/>
              </a:buClr>
              <a:buSzPts val="1800"/>
              <a:buChar char="❖"/>
            </a:pPr>
            <a:r>
              <a:rPr lang="en" sz="1800"/>
              <a:t>Which calculations to use</a:t>
            </a:r>
            <a:endParaRPr sz="1800"/>
          </a:p>
          <a:p>
            <a:pPr indent="-342900" lvl="0" marL="457200" rtl="0" algn="l">
              <a:lnSpc>
                <a:spcPct val="150000"/>
              </a:lnSpc>
              <a:spcBef>
                <a:spcPts val="0"/>
              </a:spcBef>
              <a:spcAft>
                <a:spcPts val="0"/>
              </a:spcAft>
              <a:buClr>
                <a:schemeClr val="dk1"/>
              </a:buClr>
              <a:buSzPts val="1800"/>
              <a:buChar char="❖"/>
            </a:pPr>
            <a:r>
              <a:rPr lang="en" sz="1800"/>
              <a:t>Uploading/sharing files into one shared github repository</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p:nvPr/>
        </p:nvSpPr>
        <p:spPr>
          <a:xfrm>
            <a:off x="233300" y="1001475"/>
            <a:ext cx="8448000" cy="3849300"/>
          </a:xfrm>
          <a:prstGeom prst="roundRect">
            <a:avLst>
              <a:gd fmla="val 4989" name="adj"/>
            </a:avLst>
          </a:prstGeom>
          <a:solidFill>
            <a:srgbClr val="666666"/>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66" name="Google Shape;466;p52"/>
          <p:cNvSpPr txBox="1"/>
          <p:nvPr>
            <p:ph idx="3" type="title"/>
          </p:nvPr>
        </p:nvSpPr>
        <p:spPr>
          <a:xfrm>
            <a:off x="265176"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Calculation</a:t>
            </a:r>
            <a:endParaRPr b="1" i="1" sz="2200"/>
          </a:p>
        </p:txBody>
      </p:sp>
      <p:pic>
        <p:nvPicPr>
          <p:cNvPr id="467" name="Google Shape;467;p52" title="Calculation Screenshot 201.png"/>
          <p:cNvPicPr preferRelativeResize="0"/>
          <p:nvPr/>
        </p:nvPicPr>
        <p:blipFill>
          <a:blip r:embed="rId3">
            <a:alphaModFix/>
          </a:blip>
          <a:stretch>
            <a:fillRect/>
          </a:stretch>
        </p:blipFill>
        <p:spPr>
          <a:xfrm>
            <a:off x="679279" y="1223367"/>
            <a:ext cx="7637399" cy="34777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3"/>
          <p:cNvSpPr/>
          <p:nvPr/>
        </p:nvSpPr>
        <p:spPr>
          <a:xfrm>
            <a:off x="233300" y="1001475"/>
            <a:ext cx="4291800" cy="3831900"/>
          </a:xfrm>
          <a:prstGeom prst="roundRect">
            <a:avLst>
              <a:gd fmla="val 4989" name="adj"/>
            </a:avLst>
          </a:prstGeom>
          <a:solidFill>
            <a:srgbClr val="666666"/>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73" name="Google Shape;473;p53"/>
          <p:cNvSpPr txBox="1"/>
          <p:nvPr>
            <p:ph idx="3" type="title"/>
          </p:nvPr>
        </p:nvSpPr>
        <p:spPr>
          <a:xfrm>
            <a:off x="265176"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Visualization</a:t>
            </a:r>
            <a:endParaRPr b="1" i="1" sz="2200"/>
          </a:p>
        </p:txBody>
      </p:sp>
      <p:sp>
        <p:nvSpPr>
          <p:cNvPr id="474" name="Google Shape;474;p53"/>
          <p:cNvSpPr/>
          <p:nvPr/>
        </p:nvSpPr>
        <p:spPr>
          <a:xfrm>
            <a:off x="4662675" y="1001475"/>
            <a:ext cx="4291800" cy="3831900"/>
          </a:xfrm>
          <a:prstGeom prst="roundRect">
            <a:avLst>
              <a:gd fmla="val 4989" name="adj"/>
            </a:avLst>
          </a:prstGeom>
          <a:solidFill>
            <a:srgbClr val="666666"/>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pic>
        <p:nvPicPr>
          <p:cNvPr id="475" name="Google Shape;475;p53" title="visualization_1_brewery_type_distribution.png"/>
          <p:cNvPicPr preferRelativeResize="0"/>
          <p:nvPr/>
        </p:nvPicPr>
        <p:blipFill>
          <a:blip r:embed="rId3">
            <a:alphaModFix/>
          </a:blip>
          <a:stretch>
            <a:fillRect/>
          </a:stretch>
        </p:blipFill>
        <p:spPr>
          <a:xfrm>
            <a:off x="333701" y="1458961"/>
            <a:ext cx="4023360" cy="2916936"/>
          </a:xfrm>
          <a:prstGeom prst="rect">
            <a:avLst/>
          </a:prstGeom>
          <a:noFill/>
          <a:ln>
            <a:noFill/>
          </a:ln>
        </p:spPr>
      </p:pic>
      <p:pic>
        <p:nvPicPr>
          <p:cNvPr id="476" name="Google Shape;476;p53" title="visualization_2_ann_arbor_temp_time_series.png"/>
          <p:cNvPicPr preferRelativeResize="0"/>
          <p:nvPr/>
        </p:nvPicPr>
        <p:blipFill>
          <a:blip r:embed="rId4">
            <a:alphaModFix/>
          </a:blip>
          <a:stretch>
            <a:fillRect/>
          </a:stretch>
        </p:blipFill>
        <p:spPr>
          <a:xfrm>
            <a:off x="4782312" y="1458686"/>
            <a:ext cx="4023360" cy="29169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4"/>
          <p:cNvSpPr/>
          <p:nvPr/>
        </p:nvSpPr>
        <p:spPr>
          <a:xfrm>
            <a:off x="233300" y="1001475"/>
            <a:ext cx="4291800" cy="3831900"/>
          </a:xfrm>
          <a:prstGeom prst="roundRect">
            <a:avLst>
              <a:gd fmla="val 4989" name="adj"/>
            </a:avLst>
          </a:prstGeom>
          <a:solidFill>
            <a:srgbClr val="666666"/>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82" name="Google Shape;482;p54"/>
          <p:cNvSpPr txBox="1"/>
          <p:nvPr>
            <p:ph idx="3" type="title"/>
          </p:nvPr>
        </p:nvSpPr>
        <p:spPr>
          <a:xfrm>
            <a:off x="265176"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Visualization (Extra Credit)</a:t>
            </a:r>
            <a:endParaRPr b="1" i="1" sz="2200"/>
          </a:p>
        </p:txBody>
      </p:sp>
      <p:sp>
        <p:nvSpPr>
          <p:cNvPr id="483" name="Google Shape;483;p54"/>
          <p:cNvSpPr/>
          <p:nvPr/>
        </p:nvSpPr>
        <p:spPr>
          <a:xfrm>
            <a:off x="4662675" y="1001475"/>
            <a:ext cx="4291800" cy="3831900"/>
          </a:xfrm>
          <a:prstGeom prst="roundRect">
            <a:avLst>
              <a:gd fmla="val 4989" name="adj"/>
            </a:avLst>
          </a:prstGeom>
          <a:solidFill>
            <a:srgbClr val="666666"/>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pic>
        <p:nvPicPr>
          <p:cNvPr id="484" name="Google Shape;484;p54" title="visualization_3_ec_dallas_temp_wind_scatter.png"/>
          <p:cNvPicPr preferRelativeResize="0"/>
          <p:nvPr/>
        </p:nvPicPr>
        <p:blipFill>
          <a:blip r:embed="rId3">
            <a:alphaModFix/>
          </a:blip>
          <a:stretch>
            <a:fillRect/>
          </a:stretch>
        </p:blipFill>
        <p:spPr>
          <a:xfrm>
            <a:off x="329184" y="1463040"/>
            <a:ext cx="4023360" cy="2916936"/>
          </a:xfrm>
          <a:prstGeom prst="rect">
            <a:avLst/>
          </a:prstGeom>
          <a:solidFill>
            <a:srgbClr val="666666"/>
          </a:solidFill>
          <a:ln>
            <a:noFill/>
          </a:ln>
          <a:effectLst>
            <a:outerShdw blurRad="171450" rotWithShape="0" algn="bl" dir="5400000" dist="19050">
              <a:schemeClr val="lt2">
                <a:alpha val="64999"/>
              </a:schemeClr>
            </a:outerShdw>
          </a:effectLst>
        </p:spPr>
      </p:pic>
      <p:pic>
        <p:nvPicPr>
          <p:cNvPr id="485" name="Google Shape;485;p54" title="visualization_4_city_sunshine_comparison.png"/>
          <p:cNvPicPr preferRelativeResize="0"/>
          <p:nvPr/>
        </p:nvPicPr>
        <p:blipFill>
          <a:blip r:embed="rId4">
            <a:alphaModFix/>
          </a:blip>
          <a:stretch>
            <a:fillRect/>
          </a:stretch>
        </p:blipFill>
        <p:spPr>
          <a:xfrm>
            <a:off x="4782312" y="1458686"/>
            <a:ext cx="4023360" cy="2916936"/>
          </a:xfrm>
          <a:prstGeom prst="rect">
            <a:avLst/>
          </a:prstGeom>
          <a:solidFill>
            <a:srgbClr val="666666"/>
          </a:solidFill>
          <a:ln>
            <a:noFill/>
          </a:ln>
          <a:effectLst>
            <a:outerShdw blurRad="171450" rotWithShape="0" algn="bl" dir="5400000" dist="19050">
              <a:schemeClr val="lt2">
                <a:alpha val="64999"/>
              </a:scheme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5"/>
          <p:cNvSpPr txBox="1"/>
          <p:nvPr>
            <p:ph idx="1" type="body"/>
          </p:nvPr>
        </p:nvSpPr>
        <p:spPr>
          <a:xfrm>
            <a:off x="265176" y="1536192"/>
            <a:ext cx="7526100" cy="35715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Figtree"/>
              <a:buAutoNum type="arabicParenR"/>
            </a:pPr>
            <a:r>
              <a:rPr lang="en" sz="1800">
                <a:latin typeface="Figtree"/>
                <a:ea typeface="Figtree"/>
                <a:cs typeface="Figtree"/>
                <a:sym typeface="Figtree"/>
              </a:rPr>
              <a:t>For each run of code the program will add up to 25 new brewery records per city and update visualizations accordingly. </a:t>
            </a:r>
            <a:endParaRPr sz="1800">
              <a:latin typeface="Figtree"/>
              <a:ea typeface="Figtree"/>
              <a:cs typeface="Figtree"/>
              <a:sym typeface="Figtree"/>
            </a:endParaRPr>
          </a:p>
          <a:p>
            <a:pPr indent="-342900" lvl="0" marL="457200" rtl="0" algn="l">
              <a:lnSpc>
                <a:spcPct val="150000"/>
              </a:lnSpc>
              <a:spcBef>
                <a:spcPts val="0"/>
              </a:spcBef>
              <a:spcAft>
                <a:spcPts val="0"/>
              </a:spcAft>
              <a:buSzPts val="1800"/>
              <a:buFont typeface="Figtree"/>
              <a:buAutoNum type="arabicParenR"/>
            </a:pPr>
            <a:r>
              <a:rPr lang="en" sz="1800">
                <a:latin typeface="Figtree"/>
                <a:ea typeface="Figtree"/>
                <a:cs typeface="Figtree"/>
                <a:sym typeface="Figtree"/>
              </a:rPr>
              <a:t>Check the visualization images and Calculation.txt after each run. </a:t>
            </a:r>
            <a:endParaRPr sz="1800">
              <a:latin typeface="Figtree"/>
              <a:ea typeface="Figtree"/>
              <a:cs typeface="Figtree"/>
              <a:sym typeface="Figtree"/>
            </a:endParaRPr>
          </a:p>
          <a:p>
            <a:pPr indent="-342900" lvl="0" marL="457200" rtl="0" algn="l">
              <a:lnSpc>
                <a:spcPct val="150000"/>
              </a:lnSpc>
              <a:spcBef>
                <a:spcPts val="0"/>
              </a:spcBef>
              <a:spcAft>
                <a:spcPts val="0"/>
              </a:spcAft>
              <a:buSzPts val="1800"/>
              <a:buFont typeface="Figtree"/>
              <a:buAutoNum type="arabicParenR"/>
            </a:pPr>
            <a:r>
              <a:rPr lang="en" sz="1800">
                <a:latin typeface="Figtree"/>
                <a:ea typeface="Figtree"/>
                <a:cs typeface="Figtree"/>
                <a:sym typeface="Figtree"/>
              </a:rPr>
              <a:t>Run the code 4 times for 100+ datasets</a:t>
            </a:r>
            <a:endParaRPr sz="1800">
              <a:latin typeface="Figtree"/>
              <a:ea typeface="Figtree"/>
              <a:cs typeface="Figtree"/>
              <a:sym typeface="Figtree"/>
            </a:endParaRPr>
          </a:p>
          <a:p>
            <a:pPr indent="-342900" lvl="0" marL="457200" rtl="0" algn="l">
              <a:lnSpc>
                <a:spcPct val="150000"/>
              </a:lnSpc>
              <a:spcBef>
                <a:spcPts val="0"/>
              </a:spcBef>
              <a:spcAft>
                <a:spcPts val="0"/>
              </a:spcAft>
              <a:buSzPts val="1800"/>
              <a:buFont typeface="Figtree"/>
              <a:buAutoNum type="arabicParenR"/>
            </a:pPr>
            <a:r>
              <a:rPr lang="en" sz="1800">
                <a:latin typeface="Figtree"/>
                <a:ea typeface="Figtree"/>
                <a:cs typeface="Figtree"/>
                <a:sym typeface="Figtree"/>
              </a:rPr>
              <a:t>Lastly, open the brewery_weather_db1.sqlite file with “DB browser for SQLite” to display the fetched data visually.</a:t>
            </a:r>
            <a:endParaRPr sz="1800">
              <a:latin typeface="Figtree"/>
              <a:ea typeface="Figtree"/>
              <a:cs typeface="Figtree"/>
              <a:sym typeface="Figtree"/>
            </a:endParaRPr>
          </a:p>
          <a:p>
            <a:pPr indent="0" lvl="0" marL="0" marR="0" rtl="0" algn="l">
              <a:lnSpc>
                <a:spcPct val="100000"/>
              </a:lnSpc>
              <a:spcBef>
                <a:spcPts val="0"/>
              </a:spcBef>
              <a:spcAft>
                <a:spcPts val="1000"/>
              </a:spcAft>
              <a:buNone/>
            </a:pPr>
            <a:r>
              <a:t/>
            </a:r>
            <a:endParaRPr sz="1800">
              <a:latin typeface="Figtree"/>
              <a:ea typeface="Figtree"/>
              <a:cs typeface="Figtree"/>
              <a:sym typeface="Figtree"/>
            </a:endParaRPr>
          </a:p>
        </p:txBody>
      </p:sp>
      <p:sp>
        <p:nvSpPr>
          <p:cNvPr id="491" name="Google Shape;491;p55"/>
          <p:cNvSpPr txBox="1"/>
          <p:nvPr>
            <p:ph idx="14" type="title"/>
          </p:nvPr>
        </p:nvSpPr>
        <p:spPr>
          <a:xfrm>
            <a:off x="265176"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Instructions For Running Code</a:t>
            </a:r>
            <a:endParaRPr b="1" i="1"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6"/>
          <p:cNvSpPr/>
          <p:nvPr/>
        </p:nvSpPr>
        <p:spPr>
          <a:xfrm>
            <a:off x="3448050" y="51950"/>
            <a:ext cx="4219500" cy="5051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Jost"/>
              <a:ea typeface="Jost"/>
              <a:cs typeface="Jost"/>
              <a:sym typeface="Jost"/>
            </a:endParaRPr>
          </a:p>
        </p:txBody>
      </p:sp>
      <p:sp>
        <p:nvSpPr>
          <p:cNvPr id="497" name="Google Shape;497;p56"/>
          <p:cNvSpPr txBox="1"/>
          <p:nvPr>
            <p:ph idx="3" type="title"/>
          </p:nvPr>
        </p:nvSpPr>
        <p:spPr>
          <a:xfrm>
            <a:off x="265176"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Function Diagram</a:t>
            </a:r>
            <a:endParaRPr b="1" i="1" sz="2200"/>
          </a:p>
        </p:txBody>
      </p:sp>
      <p:pic>
        <p:nvPicPr>
          <p:cNvPr id="498" name="Google Shape;498;p56" title="Function Diagram Final Project SI 201.png"/>
          <p:cNvPicPr preferRelativeResize="0"/>
          <p:nvPr/>
        </p:nvPicPr>
        <p:blipFill>
          <a:blip r:embed="rId3">
            <a:alphaModFix/>
          </a:blip>
          <a:stretch>
            <a:fillRect/>
          </a:stretch>
        </p:blipFill>
        <p:spPr>
          <a:xfrm>
            <a:off x="3861950" y="51950"/>
            <a:ext cx="3377051" cy="5290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7"/>
          <p:cNvSpPr/>
          <p:nvPr/>
        </p:nvSpPr>
        <p:spPr>
          <a:xfrm>
            <a:off x="228600" y="1368150"/>
            <a:ext cx="8686800" cy="36021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rPr lang="en">
                <a:solidFill>
                  <a:schemeClr val="lt1"/>
                </a:solidFill>
                <a:latin typeface="Figtree Medium"/>
                <a:ea typeface="Figtree Medium"/>
                <a:cs typeface="Figtree Medium"/>
                <a:sym typeface="Figtree Medium"/>
              </a:rPr>
              <a:t>df</a:t>
            </a:r>
            <a:endParaRPr>
              <a:solidFill>
                <a:schemeClr val="lt1"/>
              </a:solidFill>
              <a:latin typeface="Figtree Medium"/>
              <a:ea typeface="Figtree Medium"/>
              <a:cs typeface="Figtree Medium"/>
              <a:sym typeface="Figtree Medium"/>
            </a:endParaRPr>
          </a:p>
        </p:txBody>
      </p:sp>
      <p:sp>
        <p:nvSpPr>
          <p:cNvPr id="504" name="Google Shape;504;p57"/>
          <p:cNvSpPr txBox="1"/>
          <p:nvPr>
            <p:ph idx="3" type="title"/>
          </p:nvPr>
        </p:nvSpPr>
        <p:spPr>
          <a:xfrm>
            <a:off x="265175" y="457200"/>
            <a:ext cx="45579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Documentation Of Resources Used </a:t>
            </a:r>
            <a:endParaRPr b="1" i="1" sz="2200"/>
          </a:p>
        </p:txBody>
      </p:sp>
      <p:graphicFrame>
        <p:nvGraphicFramePr>
          <p:cNvPr id="505" name="Google Shape;505;p57"/>
          <p:cNvGraphicFramePr/>
          <p:nvPr/>
        </p:nvGraphicFramePr>
        <p:xfrm>
          <a:off x="952500" y="1637350"/>
          <a:ext cx="3000000" cy="3000000"/>
        </p:xfrm>
        <a:graphic>
          <a:graphicData uri="http://schemas.openxmlformats.org/drawingml/2006/table">
            <a:tbl>
              <a:tblPr>
                <a:noFill/>
                <a:tableStyleId>{CDD3A87D-A02B-4D07-A756-EF9BD13256FB}</a:tableStyleId>
              </a:tblPr>
              <a:tblGrid>
                <a:gridCol w="1809750"/>
                <a:gridCol w="1809750"/>
                <a:gridCol w="1809750"/>
                <a:gridCol w="1809750"/>
              </a:tblGrid>
              <a:tr h="434900">
                <a:tc>
                  <a:txBody>
                    <a:bodyPr/>
                    <a:lstStyle/>
                    <a:p>
                      <a:pPr indent="0" lvl="0" marL="0" rtl="0" algn="ctr">
                        <a:spcBef>
                          <a:spcPts val="0"/>
                        </a:spcBef>
                        <a:spcAft>
                          <a:spcPts val="0"/>
                        </a:spcAft>
                        <a:buNone/>
                      </a:pPr>
                      <a:r>
                        <a:rPr b="1" i="1" lang="en">
                          <a:solidFill>
                            <a:schemeClr val="accent4"/>
                          </a:solidFill>
                        </a:rPr>
                        <a:t>Date</a:t>
                      </a:r>
                      <a:endParaRPr b="1" i="1">
                        <a:solidFill>
                          <a:schemeClr val="accent4"/>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chemeClr val="accent4"/>
                          </a:solidFill>
                        </a:rPr>
                        <a:t>Issue Description</a:t>
                      </a:r>
                      <a:endParaRPr b="1" i="1">
                        <a:solidFill>
                          <a:schemeClr val="accent4"/>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chemeClr val="accent4"/>
                          </a:solidFill>
                        </a:rPr>
                        <a:t>Location of resource</a:t>
                      </a:r>
                      <a:endParaRPr b="1" i="1">
                        <a:solidFill>
                          <a:schemeClr val="accent4"/>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chemeClr val="accent4"/>
                          </a:solidFill>
                        </a:rPr>
                        <a:t>Result</a:t>
                      </a:r>
                      <a:endParaRPr b="1" i="1">
                        <a:solidFill>
                          <a:schemeClr val="accent4"/>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34900">
                <a:tc>
                  <a:txBody>
                    <a:bodyPr/>
                    <a:lstStyle/>
                    <a:p>
                      <a:pPr indent="0" lvl="0" marL="0" rtl="0" algn="ctr">
                        <a:spcBef>
                          <a:spcPts val="0"/>
                        </a:spcBef>
                        <a:spcAft>
                          <a:spcPts val="0"/>
                        </a:spcAft>
                        <a:buNone/>
                      </a:pPr>
                      <a:r>
                        <a:rPr b="1" lang="en">
                          <a:solidFill>
                            <a:schemeClr val="dk1"/>
                          </a:solidFill>
                        </a:rPr>
                        <a:t>12/3</a:t>
                      </a:r>
                      <a:endParaRPr b="1">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Finding usable APIs</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chemeClr val="dk1"/>
                          </a:solidFill>
                        </a:rPr>
                        <a:t>Github public APIs</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Found APIs</a:t>
                      </a:r>
                      <a:endParaRPr>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34900">
                <a:tc>
                  <a:txBody>
                    <a:bodyPr/>
                    <a:lstStyle/>
                    <a:p>
                      <a:pPr indent="0" lvl="0" marL="0" rtl="0" algn="ctr">
                        <a:spcBef>
                          <a:spcPts val="0"/>
                        </a:spcBef>
                        <a:spcAft>
                          <a:spcPts val="0"/>
                        </a:spcAft>
                        <a:buNone/>
                      </a:pPr>
                      <a:r>
                        <a:rPr b="1" lang="en">
                          <a:solidFill>
                            <a:schemeClr val="dk1"/>
                          </a:solidFill>
                        </a:rPr>
                        <a:t>12/10</a:t>
                      </a:r>
                      <a:endParaRPr b="1">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Working on project, debugging</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chemeClr val="dk1"/>
                          </a:solidFill>
                        </a:rPr>
                        <a:t>Runestone, Gen AI, past discussions &amp; homeworks</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Fixed</a:t>
                      </a:r>
                      <a:endParaRPr>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18200">
                <a:tc>
                  <a:txBody>
                    <a:bodyPr/>
                    <a:lstStyle/>
                    <a:p>
                      <a:pPr indent="0" lvl="0" marL="0" rtl="0" algn="ctr">
                        <a:spcBef>
                          <a:spcPts val="0"/>
                        </a:spcBef>
                        <a:spcAft>
                          <a:spcPts val="0"/>
                        </a:spcAft>
                        <a:buNone/>
                      </a:pPr>
                      <a:r>
                        <a:rPr b="1" lang="en">
                          <a:solidFill>
                            <a:schemeClr val="dk1"/>
                          </a:solidFill>
                        </a:rPr>
                        <a:t>12/13</a:t>
                      </a:r>
                      <a:endParaRPr b="1">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Found duplicate entry data in database</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lt1"/>
                        </a:buClr>
                        <a:buSzPts val="1100"/>
                        <a:buFont typeface="Arial"/>
                        <a:buNone/>
                      </a:pPr>
                      <a:r>
                        <a:rPr lang="en">
                          <a:solidFill>
                            <a:schemeClr val="dk1"/>
                          </a:solidFill>
                        </a:rPr>
                        <a:t>Runestone, Gen AI, past discussions &amp; homeworks</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Fixed</a:t>
                      </a:r>
                      <a:endParaRPr>
                        <a:solidFill>
                          <a:schemeClr val="dk1"/>
                        </a:solidFill>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8"/>
          <p:cNvSpPr/>
          <p:nvPr/>
        </p:nvSpPr>
        <p:spPr>
          <a:xfrm>
            <a:off x="228600" y="1368150"/>
            <a:ext cx="8686800" cy="36021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Figtree Medium"/>
                <a:ea typeface="Figtree Medium"/>
                <a:cs typeface="Figtree Medium"/>
                <a:sym typeface="Figtree Medium"/>
              </a:rPr>
              <a:t>https://github.com/AgentBoom007/Rush-Hour.git</a:t>
            </a:r>
            <a:endParaRPr sz="1800">
              <a:solidFill>
                <a:schemeClr val="dk1"/>
              </a:solidFill>
              <a:latin typeface="Figtree Medium"/>
              <a:ea typeface="Figtree Medium"/>
              <a:cs typeface="Figtree Medium"/>
              <a:sym typeface="Figtree Medium"/>
            </a:endParaRPr>
          </a:p>
          <a:p>
            <a:pPr indent="0" lvl="0" marL="0" rtl="0" algn="l">
              <a:spcBef>
                <a:spcPts val="0"/>
              </a:spcBef>
              <a:spcAft>
                <a:spcPts val="0"/>
              </a:spcAft>
              <a:buNone/>
            </a:pPr>
            <a:r>
              <a:rPr lang="en">
                <a:solidFill>
                  <a:schemeClr val="lt1"/>
                </a:solidFill>
                <a:latin typeface="Figtree Medium"/>
                <a:ea typeface="Figtree Medium"/>
                <a:cs typeface="Figtree Medium"/>
                <a:sym typeface="Figtree Medium"/>
              </a:rPr>
              <a:t>df</a:t>
            </a:r>
            <a:endParaRPr>
              <a:solidFill>
                <a:schemeClr val="lt1"/>
              </a:solidFill>
              <a:latin typeface="Figtree Medium"/>
              <a:ea typeface="Figtree Medium"/>
              <a:cs typeface="Figtree Medium"/>
              <a:sym typeface="Figtree Medium"/>
            </a:endParaRPr>
          </a:p>
        </p:txBody>
      </p:sp>
      <p:sp>
        <p:nvSpPr>
          <p:cNvPr id="511" name="Google Shape;511;p58"/>
          <p:cNvSpPr txBox="1"/>
          <p:nvPr>
            <p:ph idx="3" type="title"/>
          </p:nvPr>
        </p:nvSpPr>
        <p:spPr>
          <a:xfrm>
            <a:off x="265175" y="457200"/>
            <a:ext cx="45579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i="1" lang="en" sz="2200"/>
              <a:t>Link to GitHub Repository</a:t>
            </a:r>
            <a:endParaRPr b="1" i="1"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9"/>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